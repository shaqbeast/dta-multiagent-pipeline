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65FA21-BB62-4E2F-A570-861FC8A25F20}">
  <a:tblStyle styleId="{1365FA21-BB62-4E2F-A570-861FC8A25F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94a2e10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94a2e10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8c9028a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68c9028a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68c9028a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68c9028a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69e3d8f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69e3d8f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69e3d8f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69e3d8f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69e3d8f6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69e3d8f6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9e3d8f6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69e3d8f6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9e3d8f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69e3d8f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9e3d8f6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69e3d8f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69e3d8f6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69e3d8f6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9e3d8f6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69e3d8f6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9e3d8f6f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69e3d8f6f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69e3d8f6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69e3d8f6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69e3d8f6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69e3d8f6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69e3d8f6f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69e3d8f6f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0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Track </a:t>
            </a:r>
            <a:r>
              <a:rPr lang="en">
                <a:solidFill>
                  <a:schemeClr val="accent6"/>
                </a:solidFill>
              </a:rPr>
              <a:t>2</a:t>
            </a:r>
            <a:r>
              <a:rPr lang="en">
                <a:solidFill>
                  <a:srgbClr val="00FFFF"/>
                </a:solidFill>
              </a:rPr>
              <a:t>: </a:t>
            </a:r>
            <a:r>
              <a:rPr lang="en">
                <a:solidFill>
                  <a:srgbClr val="00FFFF"/>
                </a:solidFill>
              </a:rPr>
              <a:t>Robust Drug-Target Affinity</a:t>
            </a:r>
            <a:r>
              <a:rPr lang="en"/>
              <a:t> for </a:t>
            </a:r>
            <a:r>
              <a:rPr lang="en">
                <a:solidFill>
                  <a:srgbClr val="FFFF00"/>
                </a:solidFill>
              </a:rPr>
              <a:t>S</a:t>
            </a:r>
            <a:r>
              <a:rPr lang="en">
                <a:solidFill>
                  <a:srgbClr val="00FF00"/>
                </a:solidFill>
              </a:rPr>
              <a:t>T</a:t>
            </a:r>
            <a:r>
              <a:rPr lang="en">
                <a:solidFill>
                  <a:srgbClr val="FF00FF"/>
                </a:solidFill>
              </a:rPr>
              <a:t>A</a:t>
            </a:r>
            <a:r>
              <a:rPr lang="en">
                <a:solidFill>
                  <a:srgbClr val="FF0000"/>
                </a:solidFill>
              </a:rPr>
              <a:t>R</a:t>
            </a:r>
            <a:r>
              <a:rPr lang="en"/>
              <a:t> AI Competition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0475" y="3126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 </a:t>
            </a:r>
            <a:r>
              <a:rPr lang="en">
                <a:solidFill>
                  <a:srgbClr val="FF9900"/>
                </a:solidFill>
              </a:rPr>
              <a:t>Shikhar Verma</a:t>
            </a:r>
            <a:r>
              <a:rPr lang="en">
                <a:solidFill>
                  <a:schemeClr val="dk1"/>
                </a:solidFill>
              </a:rPr>
              <a:t> &amp; </a:t>
            </a:r>
            <a:r>
              <a:rPr lang="en">
                <a:solidFill>
                  <a:srgbClr val="FF9900"/>
                </a:solidFill>
              </a:rPr>
              <a:t>Ninh Le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19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- </a:t>
            </a:r>
            <a:r>
              <a:rPr lang="en">
                <a:solidFill>
                  <a:srgbClr val="FF9900"/>
                </a:solidFill>
              </a:rPr>
              <a:t>Binding Affinity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20" y="915100"/>
            <a:ext cx="523215" cy="58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675" y="918181"/>
            <a:ext cx="517751" cy="58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135" y="1798592"/>
            <a:ext cx="523051" cy="58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6624" y="1798599"/>
            <a:ext cx="523051" cy="58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4513" y="918181"/>
            <a:ext cx="517751" cy="58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81963" y="3088850"/>
            <a:ext cx="702875" cy="70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4"/>
          <p:cNvCxnSpPr>
            <a:stCxn id="62" idx="3"/>
            <a:endCxn id="66" idx="3"/>
          </p:cNvCxnSpPr>
          <p:nvPr/>
        </p:nvCxnSpPr>
        <p:spPr>
          <a:xfrm flipH="1">
            <a:off x="1884926" y="1209416"/>
            <a:ext cx="862500" cy="2230800"/>
          </a:xfrm>
          <a:prstGeom prst="bentConnector3">
            <a:avLst>
              <a:gd fmla="val -2760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4"/>
          <p:cNvCxnSpPr>
            <a:stCxn id="61" idx="1"/>
            <a:endCxn id="66" idx="1"/>
          </p:cNvCxnSpPr>
          <p:nvPr/>
        </p:nvCxnSpPr>
        <p:spPr>
          <a:xfrm>
            <a:off x="313920" y="1209409"/>
            <a:ext cx="867900" cy="2230800"/>
          </a:xfrm>
          <a:prstGeom prst="bentConnector3">
            <a:avLst>
              <a:gd fmla="val -2743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>
            <a:stCxn id="63" idx="2"/>
            <a:endCxn id="66" idx="0"/>
          </p:cNvCxnSpPr>
          <p:nvPr/>
        </p:nvCxnSpPr>
        <p:spPr>
          <a:xfrm flipH="1" rot="-5400000">
            <a:off x="965161" y="2520525"/>
            <a:ext cx="701700" cy="4347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4"/>
          <p:cNvCxnSpPr>
            <a:stCxn id="64" idx="2"/>
            <a:endCxn id="66" idx="0"/>
          </p:cNvCxnSpPr>
          <p:nvPr/>
        </p:nvCxnSpPr>
        <p:spPr>
          <a:xfrm rot="5400000">
            <a:off x="1399950" y="2520531"/>
            <a:ext cx="701700" cy="4347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4"/>
          <p:cNvCxnSpPr>
            <a:stCxn id="65" idx="2"/>
            <a:endCxn id="66" idx="0"/>
          </p:cNvCxnSpPr>
          <p:nvPr/>
        </p:nvCxnSpPr>
        <p:spPr>
          <a:xfrm>
            <a:off x="1533388" y="1500650"/>
            <a:ext cx="0" cy="158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 txBox="1"/>
          <p:nvPr/>
        </p:nvSpPr>
        <p:spPr>
          <a:xfrm>
            <a:off x="3832800" y="650125"/>
            <a:ext cx="468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Which candidate drug molecules best </a:t>
            </a:r>
            <a:r>
              <a:rPr i="1" lang="en" sz="1800">
                <a:solidFill>
                  <a:srgbClr val="00FFFF"/>
                </a:solidFill>
              </a:rPr>
              <a:t>targets</a:t>
            </a:r>
            <a:r>
              <a:rPr lang="en" sz="1800">
                <a:solidFill>
                  <a:schemeClr val="dk1"/>
                </a:solidFill>
              </a:rPr>
              <a:t> the disease-causing protein?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71700" y="592350"/>
            <a:ext cx="2723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FFFF"/>
                </a:solidFill>
              </a:rPr>
              <a:t>Millions of Candidate Molecules</a:t>
            </a:r>
            <a:endParaRPr sz="1100">
              <a:solidFill>
                <a:srgbClr val="00FFFF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68700" y="3791725"/>
            <a:ext cx="2129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FFFF"/>
                </a:solidFill>
              </a:rPr>
              <a:t>1 Protein on Virus</a:t>
            </a:r>
            <a:endParaRPr sz="1100">
              <a:solidFill>
                <a:srgbClr val="00FFFF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11966" y="2313200"/>
            <a:ext cx="1929460" cy="70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4"/>
          <p:cNvCxnSpPr/>
          <p:nvPr/>
        </p:nvCxnSpPr>
        <p:spPr>
          <a:xfrm>
            <a:off x="6176700" y="1315025"/>
            <a:ext cx="0" cy="95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4"/>
          <p:cNvSpPr txBox="1"/>
          <p:nvPr/>
        </p:nvSpPr>
        <p:spPr>
          <a:xfrm>
            <a:off x="5112000" y="3088850"/>
            <a:ext cx="2129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00"/>
                </a:solidFill>
              </a:rPr>
              <a:t>$$$</a:t>
            </a:r>
            <a:endParaRPr sz="1900">
              <a:solidFill>
                <a:srgbClr val="00FF00"/>
              </a:solidFill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37518" y="3440200"/>
            <a:ext cx="645559" cy="9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753575" y="4460525"/>
            <a:ext cx="710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Use </a:t>
            </a:r>
            <a:r>
              <a:rPr lang="en" sz="1900">
                <a:solidFill>
                  <a:srgbClr val="00FFFF"/>
                </a:solidFill>
              </a:rPr>
              <a:t>Machine Learning Models</a:t>
            </a:r>
            <a:r>
              <a:rPr lang="en" sz="1900">
                <a:solidFill>
                  <a:schemeClr val="dk1"/>
                </a:solidFill>
              </a:rPr>
              <a:t> to predict which </a:t>
            </a:r>
            <a:r>
              <a:rPr lang="en" sz="1900">
                <a:solidFill>
                  <a:schemeClr val="dk1"/>
                </a:solidFill>
              </a:rPr>
              <a:t>candidate</a:t>
            </a:r>
            <a:r>
              <a:rPr lang="en" sz="1900">
                <a:solidFill>
                  <a:schemeClr val="dk1"/>
                </a:solidFill>
              </a:rPr>
              <a:t> molecules bind best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&amp; Preprocessing</a:t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825" y="699850"/>
            <a:ext cx="631475" cy="5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7925" y="634306"/>
            <a:ext cx="517751" cy="58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00" y="793887"/>
            <a:ext cx="329625" cy="3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-156787" y="1237950"/>
            <a:ext cx="3187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ML Models are not </a:t>
            </a:r>
            <a:r>
              <a:rPr lang="en">
                <a:solidFill>
                  <a:srgbClr val="00FF00"/>
                </a:solidFill>
              </a:rPr>
              <a:t>chemists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425" y="2044200"/>
            <a:ext cx="3068550" cy="16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4014350" y="793875"/>
            <a:ext cx="15597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M</a:t>
            </a:r>
            <a:r>
              <a:rPr lang="en" sz="1800">
                <a:solidFill>
                  <a:srgbClr val="FF0000"/>
                </a:solidFill>
              </a:rPr>
              <a:t>K</a:t>
            </a:r>
            <a:r>
              <a:rPr lang="en" sz="1800">
                <a:solidFill>
                  <a:srgbClr val="00FFFF"/>
                </a:solidFill>
              </a:rPr>
              <a:t>M</a:t>
            </a:r>
            <a:r>
              <a:rPr lang="en" sz="1800">
                <a:solidFill>
                  <a:srgbClr val="FFFF00"/>
                </a:solidFill>
              </a:rPr>
              <a:t>T</a:t>
            </a:r>
            <a:r>
              <a:rPr lang="en" sz="1800">
                <a:solidFill>
                  <a:srgbClr val="00FF00"/>
                </a:solidFill>
              </a:rPr>
              <a:t>LL</a:t>
            </a:r>
            <a:r>
              <a:rPr lang="en" sz="1800">
                <a:solidFill>
                  <a:srgbClr val="FFFFFF"/>
                </a:solidFill>
              </a:rPr>
              <a:t>I</a:t>
            </a:r>
            <a:r>
              <a:rPr lang="en" sz="1800">
                <a:solidFill>
                  <a:srgbClr val="FF9900"/>
                </a:solidFill>
              </a:rPr>
              <a:t>…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12300" y="3779400"/>
            <a:ext cx="4519500" cy="13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</a:t>
            </a:r>
            <a:r>
              <a:rPr lang="en">
                <a:solidFill>
                  <a:srgbClr val="FF9900"/>
                </a:solidFill>
              </a:rPr>
              <a:t>atom</a:t>
            </a:r>
            <a:r>
              <a:rPr lang="en">
                <a:solidFill>
                  <a:schemeClr val="dk1"/>
                </a:solidFill>
              </a:rPr>
              <a:t> has a </a:t>
            </a:r>
            <a:r>
              <a:rPr lang="en">
                <a:solidFill>
                  <a:srgbClr val="FF9900"/>
                </a:solidFill>
              </a:rPr>
              <a:t>29</a:t>
            </a:r>
            <a:r>
              <a:rPr lang="en">
                <a:solidFill>
                  <a:schemeClr val="dk1"/>
                </a:solidFill>
              </a:rPr>
              <a:t>-dimensional vector representation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</a:t>
            </a:r>
            <a:r>
              <a:rPr lang="en">
                <a:solidFill>
                  <a:srgbClr val="FFFF00"/>
                </a:solidFill>
              </a:rPr>
              <a:t>bond</a:t>
            </a:r>
            <a:r>
              <a:rPr lang="en">
                <a:solidFill>
                  <a:schemeClr val="dk1"/>
                </a:solidFill>
              </a:rPr>
              <a:t> has a</a:t>
            </a:r>
            <a:r>
              <a:rPr lang="en">
                <a:solidFill>
                  <a:srgbClr val="00FFFF"/>
                </a:solidFill>
              </a:rPr>
              <a:t> </a:t>
            </a:r>
            <a:r>
              <a:rPr lang="en">
                <a:solidFill>
                  <a:srgbClr val="FFFF00"/>
                </a:solidFill>
              </a:rPr>
              <a:t>7</a:t>
            </a:r>
            <a:r>
              <a:rPr lang="en">
                <a:solidFill>
                  <a:schemeClr val="dk1"/>
                </a:solidFill>
              </a:rPr>
              <a:t>-dimensional vector representation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8775" y="605075"/>
            <a:ext cx="707250" cy="7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5884400" y="1385250"/>
            <a:ext cx="876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ESM2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044900" y="699850"/>
            <a:ext cx="209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FFFF"/>
                </a:solidFill>
              </a:rPr>
              <a:t>1280-</a:t>
            </a:r>
            <a:r>
              <a:rPr lang="en" sz="1300">
                <a:solidFill>
                  <a:srgbClr val="00FFFF"/>
                </a:solidFill>
              </a:rPr>
              <a:t>dimension</a:t>
            </a:r>
            <a:r>
              <a:rPr lang="en" sz="1300">
                <a:solidFill>
                  <a:srgbClr val="00FFFF"/>
                </a:solidFill>
              </a:rPr>
              <a:t> vector representation</a:t>
            </a:r>
            <a:endParaRPr sz="1300">
              <a:solidFill>
                <a:srgbClr val="FF9900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572000" y="2277900"/>
            <a:ext cx="12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Split A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(Random)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6176178" y="2271900"/>
            <a:ext cx="122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Split B (Scaffold)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7656450" y="2271900"/>
            <a:ext cx="110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Split C (Assay)</a:t>
            </a:r>
            <a:endParaRPr sz="1800">
              <a:solidFill>
                <a:srgbClr val="00FFFF"/>
              </a:solidFill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1138" y="3173225"/>
            <a:ext cx="2214371" cy="18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</a:t>
            </a:r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513" y="572700"/>
            <a:ext cx="5524968" cy="42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the model: Heteroskedastic loss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3531500"/>
            <a:ext cx="85206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Optimizer with Cosine Annealing learning rate scheduler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Gradient Clipping at max norm 5.0</a:t>
            </a:r>
            <a:endParaRPr/>
          </a:p>
        </p:txBody>
      </p:sp>
      <p:pic>
        <p:nvPicPr>
          <p:cNvPr id="111" name="Google Shape;111;p17" title="Screenshot 2026-04-16 at 8.47.3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75" y="1310300"/>
            <a:ext cx="8152526" cy="126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 rot="-5400000">
            <a:off x="2469300" y="1560763"/>
            <a:ext cx="344700" cy="2506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2085425" y="3056275"/>
            <a:ext cx="11946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Precision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4" name="Google Shape;114;p17"/>
          <p:cNvSpPr/>
          <p:nvPr/>
        </p:nvSpPr>
        <p:spPr>
          <a:xfrm rot="-5400000">
            <a:off x="7122250" y="1525813"/>
            <a:ext cx="344700" cy="2506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738375" y="3021325"/>
            <a:ext cx="14427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Regularizer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Dataset</a:t>
            </a:r>
            <a:endParaRPr/>
          </a:p>
        </p:txBody>
      </p:sp>
      <p:graphicFrame>
        <p:nvGraphicFramePr>
          <p:cNvPr id="121" name="Google Shape;121;p18"/>
          <p:cNvGraphicFramePr/>
          <p:nvPr/>
        </p:nvGraphicFramePr>
        <p:xfrm>
          <a:off x="575475" y="138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{1365FA21-BB62-4E2F-A570-861FC8A25F20}</a:tableStyleId>
              </a:tblPr>
              <a:tblGrid>
                <a:gridCol w="3629425"/>
                <a:gridCol w="3629425"/>
              </a:tblGrid>
              <a:tr h="56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Train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23,194 (Compound-Protein pairs)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Validation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2,578 (Compound-Protein pairs)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Test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23,191 (Compound-Protein pairs)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" name="Google Shape;122;p18"/>
          <p:cNvSpPr txBox="1"/>
          <p:nvPr/>
        </p:nvSpPr>
        <p:spPr>
          <a:xfrm>
            <a:off x="575475" y="3611575"/>
            <a:ext cx="7302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Inverse Frequency Weighted Sampling to ensure sufficient Split C representation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 studies: Bigger ensemble size, better prediction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 title="Screenshot 2026-04-16 at 9.24.0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00" y="1331076"/>
            <a:ext cx="8306501" cy="31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 Study: SR-CI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50" y="1795727"/>
            <a:ext cx="7426799" cy="201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6825" y="4138578"/>
            <a:ext cx="6048375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Analysis: Safety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 over-confident recommendation by uncertainty estimation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Total variance = Epistemic uncertainty + Aleatoric uncertainty</a:t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 rot="-5400000">
            <a:off x="3450900" y="1044991"/>
            <a:ext cx="310200" cy="225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5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250" lIns="82250" spcFirstLastPara="1" rIns="82250" wrap="square" tIns="82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2478600" y="2474250"/>
            <a:ext cx="2497200" cy="1131900"/>
          </a:xfrm>
          <a:prstGeom prst="rect">
            <a:avLst/>
          </a:prstGeom>
        </p:spPr>
        <p:txBody>
          <a:bodyPr anchorCtr="0" anchor="t" bIns="82250" lIns="82250" spcFirstLastPara="1" rIns="82250" wrap="square" tIns="82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80"/>
              </a:spcAft>
              <a:buNone/>
            </a:pPr>
            <a:r>
              <a:rPr lang="en" sz="1619">
                <a:solidFill>
                  <a:srgbClr val="FF0000"/>
                </a:solidFill>
              </a:rPr>
              <a:t>Variance of 50 variances (10 stochastic passes x 5 models)</a:t>
            </a:r>
            <a:endParaRPr sz="1619">
              <a:solidFill>
                <a:srgbClr val="FF0000"/>
              </a:solidFill>
            </a:endParaRPr>
          </a:p>
        </p:txBody>
      </p:sp>
      <p:sp>
        <p:nvSpPr>
          <p:cNvPr id="145" name="Google Shape;145;p21"/>
          <p:cNvSpPr/>
          <p:nvPr/>
        </p:nvSpPr>
        <p:spPr>
          <a:xfrm rot="-5400000">
            <a:off x="5895525" y="1044991"/>
            <a:ext cx="310200" cy="225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5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250" lIns="82250" spcFirstLastPara="1" rIns="82250" wrap="square" tIns="82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9"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4923225" y="2474250"/>
            <a:ext cx="2497200" cy="405000"/>
          </a:xfrm>
          <a:prstGeom prst="rect">
            <a:avLst/>
          </a:prstGeom>
        </p:spPr>
        <p:txBody>
          <a:bodyPr anchorCtr="0" anchor="t" bIns="82250" lIns="82250" spcFirstLastPara="1" rIns="82250" wrap="square" tIns="8225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080"/>
              </a:spcAft>
              <a:buNone/>
            </a:pPr>
            <a:r>
              <a:rPr lang="en" sz="1619">
                <a:solidFill>
                  <a:srgbClr val="FF0000"/>
                </a:solidFill>
              </a:rPr>
              <a:t>Mean</a:t>
            </a:r>
            <a:r>
              <a:rPr lang="en" sz="1619">
                <a:solidFill>
                  <a:srgbClr val="FF0000"/>
                </a:solidFill>
              </a:rPr>
              <a:t> of 50 variances</a:t>
            </a:r>
            <a:endParaRPr sz="1619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Analysis: Trustworthy and Responsibility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Shift-aware evaluation by computing per-shift RMSE and 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Report performance degradation across splits</a:t>
            </a:r>
            <a:endParaRPr/>
          </a:p>
        </p:txBody>
      </p:sp>
      <p:pic>
        <p:nvPicPr>
          <p:cNvPr id="153" name="Google Shape;153;p22" title="Screenshot 2026-04-16 at 9.08.0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975" y="2064626"/>
            <a:ext cx="7134424" cy="25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Analysis: Actionability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Budget-constrained compound ranking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Prioritize high-affinity, low-uncertainty compound-protein pairs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3069575" y="1962450"/>
            <a:ext cx="3214200" cy="4986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for pred variance &lt; threshold</a:t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3069575" y="2910450"/>
            <a:ext cx="3214200" cy="4986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 utility (pred affinity - lambda_risk * pred STD)</a:t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3069575" y="3858450"/>
            <a:ext cx="3214200" cy="4986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by utility and return top k</a:t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4570625" y="2569950"/>
            <a:ext cx="212100" cy="23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4570625" y="3517950"/>
            <a:ext cx="212100" cy="231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evaluation metrics: Kendall’s tau for ranking stability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4" title="Screenshot 2026-04-16 at 9.15.1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25" y="1152475"/>
            <a:ext cx="7675350" cy="323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evaluation metrics: Hit Rate at Budget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5" title="Screenshot 2026-04-16 at 9.16.4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50" y="1302599"/>
            <a:ext cx="8306276" cy="30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evaluation metrics: Calibration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Expected Calibration Error (ECE) checks if the model’s confidence matches Gaussian distribution.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ECE = 0.0843 (recommended &lt; 0.10)</a:t>
            </a:r>
            <a:endParaRPr/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275" y="2311800"/>
            <a:ext cx="4170575" cy="27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 evaluation metrics: Abstention quality</a:t>
            </a: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1468425"/>
            <a:ext cx="50101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/>
          <p:nvPr/>
        </p:nvSpPr>
        <p:spPr>
          <a:xfrm>
            <a:off x="2066925" y="1557750"/>
            <a:ext cx="1316400" cy="36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</a:rPr>
              <a:t>Top 25% uncertain prediction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5682050" y="1557750"/>
            <a:ext cx="1316400" cy="36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</a:rPr>
              <a:t>Top 25% worst prediction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3919100" y="2305475"/>
            <a:ext cx="1140900" cy="79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0000"/>
                </a:solidFill>
              </a:rPr>
              <a:t>69%</a:t>
            </a:r>
            <a:endParaRPr b="1" sz="3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2931075" y="1856925"/>
            <a:ext cx="3488400" cy="18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Q&amp;A</a:t>
            </a:r>
            <a:endParaRPr sz="10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